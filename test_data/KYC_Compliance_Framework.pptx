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Risk Factor Weighting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Weight (%)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Geography</c:v>
                  </c:pt>
                  <c:pt idx="1">
                    <c:v>Occupation</c:v>
                  </c:pt>
                  <c:pt idx="2">
                    <c:v>Transaction
Behaviour</c:v>
                  </c:pt>
                  <c:pt idx="3">
                    <c:v>PEP Status</c:v>
                  </c:pt>
                  <c:pt idx="4">
                    <c:v>Ownership
Structure</c:v>
                  </c:pt>
                  <c:pt idx="5">
                    <c:v>Product
Type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22</c:v>
                </c:pt>
                <c:pt idx="3">
                  <c:v>15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Alert &amp; SAR Volume (FY 2024)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Generated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135</c:v>
                </c:pt>
                <c:pt idx="2">
                  <c:v>98</c:v>
                </c:pt>
                <c:pt idx="3">
                  <c:v>142</c:v>
                </c:pt>
                <c:pt idx="4">
                  <c:v>160</c:v>
                </c:pt>
                <c:pt idx="5">
                  <c:v>175</c:v>
                </c:pt>
                <c:pt idx="6">
                  <c:v>155</c:v>
                </c:pt>
                <c:pt idx="7">
                  <c:v>188</c:v>
                </c:pt>
                <c:pt idx="8">
                  <c:v>210</c:v>
                </c:pt>
                <c:pt idx="9">
                  <c:v>195</c:v>
                </c:pt>
                <c:pt idx="10">
                  <c:v>220</c:v>
                </c:pt>
                <c:pt idx="11">
                  <c:v>245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SARs Filed</c:v>
                </c:pt>
              </c:strCache>
            </c:strRef>
          </c:tx>
          <c:spPr>
            <a:solidFill>
              <a:srgbClr val="4A90D9"/>
            </a:solidFill>
            <a:ln w="38100" cap="flat">
              <a:solidFill>
                <a:srgbClr val="4A90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</c:v>
                </c:pt>
                <c:pt idx="1">
                  <c:v>15</c:v>
                </c:pt>
                <c:pt idx="2">
                  <c:v>9</c:v>
                </c:pt>
                <c:pt idx="3">
                  <c:v>18</c:v>
                </c:pt>
                <c:pt idx="4">
                  <c:v>22</c:v>
                </c:pt>
                <c:pt idx="5">
                  <c:v>19</c:v>
                </c:pt>
                <c:pt idx="6">
                  <c:v>17</c:v>
                </c:pt>
                <c:pt idx="7">
                  <c:v>25</c:v>
                </c:pt>
                <c:pt idx="8">
                  <c:v>28</c:v>
                </c:pt>
                <c:pt idx="9">
                  <c:v>24</c:v>
                </c:pt>
                <c:pt idx="10">
                  <c:v>30</c:v>
                </c:pt>
                <c:pt idx="11">
                  <c:v>32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Alert Match Disposition (FY2024 %)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bubble3D val="0"/>
            <c:spPr>
              <a:solidFill>
                <a:srgbClr val="4A90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True Match — Blocked</c:v>
                </c:pt>
                <c:pt idx="1">
                  <c:v>False Positive — Cleared</c:v>
                </c:pt>
                <c:pt idx="2">
                  <c:v>Pending Review</c:v>
                </c:pt>
                <c:pt idx="3">
                  <c:v>Escalated to Compliance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78</c:v>
                </c:pt>
                <c:pt idx="2">
                  <c:v>12</c:v>
                </c:pt>
                <c:pt idx="3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2194560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COMPLIANCE GUIDE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Customer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(KYC) Framework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· Customer Due Diligence · AML Compliance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 · Transaction Monitoring · Regulatory Standards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CONFIDENTIAL | For Internal Use Only | FY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1795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KYC Overview &amp; Regulatory Framework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939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Customer Due Diligence (CDD) Levels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0083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Risk Scoring &amp; Classification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922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Beneficial Ownership &amp; PEP Screening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1795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AML Red Flags &amp; Transaction Monitoring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0939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Document Requirements by Customer Type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30083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KYC Workflow &amp; Escalation Process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922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Compliance Metrics &amp; KPIs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KYC?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Know Your Customer (KYC) is a mandatory regulatory process through which financial institutions verify the identity of their clients, assess potential risks, and ensure compliance with Anti-Money Laundering (AML) and Counter-Terrorism Financing (CTF) laws.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423160"/>
            <a:ext cx="26060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Identity Verification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45577"/>
                </a:solidFill>
              </a:rPr>
              <a:t>Confirm customer is who they claim to be using government-issued documents, biometrics, and database checks.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42316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423160"/>
            <a:ext cx="26060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Risk Assessment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92608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45577"/>
                </a:solidFill>
              </a:rPr>
              <a:t>Evaluate the potential risk a customer poses based on geography, occupation, transaction patterns, and PEP status.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42316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423160"/>
            <a:ext cx="26060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Ongoing Monitoring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92608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45577"/>
                </a:solidFill>
              </a:rPr>
              <a:t>Continuously review customer activity, update records, and flag suspicious transactions for investigation.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Global Regulatory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5156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0058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FATF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44752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Financial Action Task Force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44752" y="144475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77"/>
                </a:solidFill>
              </a:rPr>
              <a:t>Sets global AML/CFT standards. 40 Recommendations form the basis of KYC laws in 200+ jurisdictions.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10058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BSA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33872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Bank Secrecy Act (USA)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33872" y="144475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77"/>
                </a:solidFill>
              </a:rPr>
              <a:t>Requires US financial institutions to assist government agencies in detecting money laundering.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10058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AMLD6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44752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6th EU Anti-Money Laundering Dir.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44752" y="26791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77"/>
                </a:solidFill>
              </a:rPr>
              <a:t>Expands criminal liability for ML to legal persons; requires predicate offence coverage.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31720"/>
            <a:ext cx="10058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3317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RBI/SEBI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33872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India (RBI &amp; SEBI Guidelines)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33872" y="26791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77"/>
                </a:solidFill>
              </a:rPr>
              <a:t>Mandate KYC norms for banks, NBFCs, and capital market intermediaries operating in India.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10058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FinCEN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44752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Financial Crimes Enforcement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44752" y="39136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77"/>
                </a:solidFill>
              </a:rPr>
              <a:t>CDD rule requires beneficial ownership identification for legal entity customers.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10058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6616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MAS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33872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Monetary Authority of Singapore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33872" y="39136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77"/>
                </a:solidFill>
              </a:rPr>
              <a:t>Strict AML/CFT framework for financial institutions operating in Singapore.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Customer Due Diligence — Three Levels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3749040"/>
          </a:xfrm>
          <a:prstGeom prst="rect">
            <a:avLst/>
          </a:prstGeom>
          <a:solidFill>
            <a:srgbClr val="1E2761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SDD · LOW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Simplified Due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Diligence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Applied to customers who present minimal risk. Reduced documentation requirements.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Applies when: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Low-value products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Government entities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Listed public companies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Regulated financial institutions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Low-value products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3438144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393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Government entities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3739896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410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Listed public companies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4041648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42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Regulated financial institutions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4343400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051560"/>
            <a:ext cx="2606040" cy="374904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51560"/>
            <a:ext cx="260604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CDD · MEDIUM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16459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Standard Due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Diligence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91840" y="23317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The default KYC process applied to most retail and commercial customers.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Applies when: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375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Standard retail banking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SME customers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General investment accounts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Insurance products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Standard retail banking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0128" y="3438144"/>
            <a:ext cx="73152" cy="731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6393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SME customers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3739896"/>
            <a:ext cx="73152" cy="731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9410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General investment accounts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0128" y="4041648"/>
            <a:ext cx="73152" cy="731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4242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Insurance products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10128" y="4343400"/>
            <a:ext cx="73152" cy="7315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051560"/>
            <a:ext cx="2606040" cy="3749040"/>
          </a:xfrm>
          <a:prstGeom prst="rect">
            <a:avLst/>
          </a:prstGeom>
          <a:solidFill>
            <a:srgbClr val="1E2761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051560"/>
            <a:ext cx="260604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EDD · HIGH RISK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16459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Enhanced Due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Diligence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126480" y="23317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Intensified scrutiny applied to high-risk customers requiring additional verification.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Applies when: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3375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PEPs &amp; their associates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High-risk jurisdictions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Complex ownership structures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Cash-intensive businesses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PEPs &amp; their associates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44768" y="3438144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6393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High-risk jurisdictions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44768" y="3739896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9410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Complex ownership structures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44768" y="4041648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4242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Cash-intensive businesses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44768" y="4343400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Risk Scoring Model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Risk Score Bands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463040"/>
            <a:ext cx="10058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4630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1463040"/>
            <a:ext cx="10058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4630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1463040"/>
            <a:ext cx="10058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14630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196596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0 – 30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65960"/>
            <a:ext cx="100584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196596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SDD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60720" y="246888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4688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31 – 60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0" y="2468880"/>
            <a:ext cx="100584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24688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Medium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0" y="246888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24688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CDD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297180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29718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61 – 80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66560" y="2971800"/>
            <a:ext cx="100584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29718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772400" y="297180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29718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EDD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760720" y="347472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60720" y="3474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81 – 100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766560" y="3474720"/>
            <a:ext cx="100584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66560" y="3474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Very High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72400" y="3474720"/>
            <a:ext cx="10058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72400" y="3474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EDD + SAR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60720" y="4114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BB"/>
                </a:solidFill>
              </a:rPr>
              <a:t>Each factor is scored 1–100 and multiplied by its weight. Final composite score determines CDD tier.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Document Requirements by Customer 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Individual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367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Government-issued photo ID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(Passport / Driver's License)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67128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037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Proof of Address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(Utility bill &lt; 3 months)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34056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706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Source of Income declaration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00984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Tax Identification Number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67912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67912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9044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PEP Self-declaration 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434840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434840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4714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Biometric verification (EDD)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051560"/>
            <a:ext cx="2606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Corporate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00400" y="1600200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1600200"/>
            <a:ext cx="54864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6367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Certificate of Incorporation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167128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167128"/>
            <a:ext cx="54864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2037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Memorandum &amp; Articles of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Association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734056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734056"/>
            <a:ext cx="54864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7706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Board Resolution authorising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representatives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3300984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3300984"/>
            <a:ext cx="54864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Beneficial Ownership Register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(UBOs ≥ 25%)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3867912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3867912"/>
            <a:ext cx="54864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9044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Audited financial statements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4434840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4434840"/>
            <a:ext cx="54864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44714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Group structure chart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1051560"/>
            <a:ext cx="260604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Trust / Fund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35040" y="1600200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1600200"/>
            <a:ext cx="54864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16367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Trust Deed / Fund Prospectus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35040" y="2167128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2167128"/>
            <a:ext cx="54864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22037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List of trustees &amp; beneficiaries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35040" y="2734056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2734056"/>
            <a:ext cx="54864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44768" y="27706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Source of trust funds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3300984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3300984"/>
            <a:ext cx="54864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4768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Protector identity documents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35040" y="3867912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3867912"/>
            <a:ext cx="54864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44768" y="39044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Investment mandate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35040" y="4434840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35040" y="4434840"/>
            <a:ext cx="54864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4768" y="44714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Annual compliance certification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Beneficial Ownership &amp; PEP Screening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BENEFICIAL OWNERSHIP (UBO)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276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Any individual owning ≥ 25% of shares or voting rights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Anyone exercising effective control of the entity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614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Senior managing official if no UBO can be identified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2841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Re-verify UBO whenever ownership structure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8953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Maintain records for minimum 5 years after exit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POLITICALLY EXPOSED PERSONS (PEP)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627632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673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</a:rPr>
              <a:t>Domestic PEP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56048" y="1883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77"/>
                </a:solidFill>
              </a:rPr>
              <a:t>Heads of state, government ministers, senior judiciary, military officers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37744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</a:rPr>
              <a:t>Foreign PEP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56048" y="2633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77"/>
                </a:solidFill>
              </a:rPr>
              <a:t>Senior officials of foreign governments — higher risk than domestic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127248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1729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</a:rPr>
              <a:t>International Org.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56048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77"/>
                </a:solidFill>
              </a:rPr>
              <a:t>Senior officials of international bodies (UN, IMF, World Bank)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877056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92277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</a:rPr>
              <a:t>Associates &amp; Family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56048" y="4133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77"/>
                </a:solidFill>
              </a:rPr>
              <a:t>Close business associates and immediate family of any PEP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4572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PEPs require EDD, senior management approval, and annual re-review at minimum.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AML Red Flags &amp; Suspicious Activity Indicators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Identity Red Flags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27048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Reluctance to provide ID documents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922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Inconsistent personal information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85416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21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Multiple IDs with different details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505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Use of nominees or third parties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Transactions Red Flags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527048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630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Large cash deposits/withdrawals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1856232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7922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Structuring to stay below thresholds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185416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121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Rapid movement of funds across accounts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514600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4505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Round-number transactions repeatedly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4023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17520"/>
            <a:ext cx="40233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Geography Red Flags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290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Transactions from FATF blacklisted countries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822192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75818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Funds via high-risk jurisdictions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151376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873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No economic rationale for cross-border 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480560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4165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Use of offshore shell companies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4023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17520"/>
            <a:ext cx="40233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Business Red Flags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92040" y="3493008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4290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Business purpose inconsistent with activity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3822192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75818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Revenue inconsistent with industry norms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92040" y="4151376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0873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Unusual counterparties or suppliers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4480560"/>
            <a:ext cx="6400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44165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Unexplained wealth or asset acquisition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Transaction Monitoring Framework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51560"/>
            <a:ext cx="292608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51560"/>
            <a:ext cx="73152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097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</a:rPr>
              <a:t>2,043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89320" y="1527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Total Alerts FY2024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057400"/>
            <a:ext cx="292608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2057400"/>
            <a:ext cx="73152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03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</a:rPr>
              <a:t>221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989320" y="2532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SARs Filed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063240"/>
            <a:ext cx="292608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3063240"/>
            <a:ext cx="73152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1089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9C12"/>
                </a:solidFill>
              </a:rPr>
              <a:t>10.8%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989320" y="3538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SAR Conversion Rate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4069080"/>
            <a:ext cx="2926080" cy="868680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4069080"/>
            <a:ext cx="7315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41148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4.2h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989320" y="4544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Avg. Review Time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SAR = Suspicious Activity Report. Threshold alerts trigger automated workflows reviewed by compliance analysts.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KYC Onboarding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85800" cy="6858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70432" y="1714500"/>
            <a:ext cx="475488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1488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Customer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Application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64208" y="1371600"/>
            <a:ext cx="685800" cy="6858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64208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77440" y="1714500"/>
            <a:ext cx="475488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21488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Document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Collection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71216" y="1371600"/>
            <a:ext cx="685800" cy="6858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71216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84448" y="1714500"/>
            <a:ext cx="475488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21488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Identity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Verification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78224" y="1371600"/>
            <a:ext cx="685800" cy="6858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78224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91456" y="1714500"/>
            <a:ext cx="475488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41064" y="21488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Risk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Assessment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85232" y="1371600"/>
            <a:ext cx="685800" cy="685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85232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98464" y="1714500"/>
            <a:ext cx="475488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21488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Screening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(PEP/Sanctions)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1371600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05472" y="1714500"/>
            <a:ext cx="475488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1488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Approval /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Escalation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99248" y="1371600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99248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562088" y="21488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Account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Activation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926080"/>
            <a:ext cx="8412480" cy="54864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Decision Paths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" y="34564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Low Risk → Auto-approve within 24hrs (SDD pathway)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86791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~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" y="384962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Medium Risk → Standard review 3–5 business days (CDD pathway)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261104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" y="424281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High Risk → Senior approval required, EDD documentation gathered (up to 15 days)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654296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54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4672" y="46360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Declined / SAR Filed → Customer rejected, regulator notified within 30 days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Sanctions Screening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Sanctions Lists Screened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160020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OFAC SDN (USA)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98424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938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UN Consolidated Sanctions 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36829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3225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EU Consolidated List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75234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7066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HM Treasury (UK)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313639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090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FATF High-Risk Jurisdictions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52044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India UAPA / MHA List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90448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858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Interpol Notices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4251960"/>
            <a:ext cx="411480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4251960"/>
            <a:ext cx="411480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All customer names, aliases, addresses &amp; entity names must be screened at onboarding AND on each material change.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KYC Compliance KPIs — FY 2024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075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</a:rPr>
              <a:t>98.4%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Onboarding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Completion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+2.1% vs FY23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060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075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90D9"/>
                </a:solidFill>
              </a:rPr>
              <a:t>1.8d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Avg. KYC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Cycle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5328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–0.6d vs FY23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060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075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</a:rPr>
              <a:t>0.3%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Rate (Sanctions)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5328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Industry avg: 2.1%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060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8211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Regulatory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Audit Pass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074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3rd consecutive year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060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18211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4,812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291840" y="3886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EDD Cases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44074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+18% volume YoY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060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18211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</a:rPr>
              <a:t>99.7%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126480" y="3886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Data Accuracy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44074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Automated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Periodic Review &amp; Refresh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7373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9728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Tier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097280"/>
            <a:ext cx="1645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1992" y="109728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Frequency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30175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09728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Trigger Events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1097280"/>
            <a:ext cx="18288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76872" y="109728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Owned By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173736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5564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Low (SDD)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1755648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175564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Every 3 Years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1755648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175564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Change of address, product upgrade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75564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75564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Ops Team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414016"/>
            <a:ext cx="1737360" cy="621792"/>
          </a:xfrm>
          <a:prstGeom prst="rect">
            <a:avLst/>
          </a:prstGeom>
          <a:solidFill>
            <a:srgbClr val="4A90D9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414016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 (CDD)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2414016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41401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Every 2 Years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414016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241401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Large transactions, occupation change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414016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241401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Compliance Analyst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072384"/>
            <a:ext cx="1737360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072384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High (EDD)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48840" y="3072384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3072384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Annually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3072384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307238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Any change in UBO, jurisdiction, business nature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3072384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307238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Senior Compliance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730752"/>
            <a:ext cx="1737360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73075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PEP / Sanctioned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48840" y="3730752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373075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Every 6 Months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0" y="3730752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13632" y="373075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Adverse news, position changes, list updates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03720" y="373075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373075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MLRO Sign-off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389120"/>
            <a:ext cx="1737360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438912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Very High Risk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48840" y="4389120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21992" y="43891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Quarterly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40480" y="4389120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3632" y="438912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Court orders, SAR history, regulator flags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03720" y="438912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76872" y="438912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C-Suite Approval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Trigger events always override scheduled reviews — any material change must initiate an immediate refresh regardless of last review date.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5486400" cy="5486400"/>
          </a:xfrm>
          <a:prstGeom prst="ellipse">
            <a:avLst/>
          </a:prstGeom>
          <a:solidFill>
            <a:srgbClr val="0F163A"/>
          </a:solidFill>
          <a:ln w="12700">
            <a:solidFill>
              <a:srgbClr val="0F1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48640"/>
            <a:ext cx="201168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is a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Process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4864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677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Risk-based approach: not all customers are equal — calibrate effort to risk level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54864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79806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Documentation is foundational — gaps in records create regulatory and legal exposure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46704"/>
            <a:ext cx="54864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3284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Screening must be continuous — not just at onboarding, but throughout the relationship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54864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8587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Technology augments but cannot replace human judgement in complex EDD cases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407408"/>
            <a:ext cx="54864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3891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Culture matters — every employee is a first line of defence against financial crime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63A"/>
          </a:solidFill>
          <a:ln w="12700">
            <a:solidFill>
              <a:srgbClr val="0F1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KYC Compliance Framework | FY 2024 | Internal Training Material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KYC Compliance &amp; Risk Management</dc:title>
  <dc:subject>PptxGenJS Presentation</dc:subject>
  <dc:creator>Compliance Team</dc:creator>
  <cp:lastModifiedBy>Compliance Team</cp:lastModifiedBy>
  <cp:revision>1</cp:revision>
  <dcterms:created xsi:type="dcterms:W3CDTF">2026-04-05T07:54:57Z</dcterms:created>
  <dcterms:modified xsi:type="dcterms:W3CDTF">2026-04-05T07:54:57Z</dcterms:modified>
</cp:coreProperties>
</file>